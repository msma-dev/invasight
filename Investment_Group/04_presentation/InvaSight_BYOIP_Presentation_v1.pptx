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100" Type="http://schemas.openxmlformats.org/officeDocument/2006/relationships/image" Target="../media/anim_image1.png"/><Relationship Id="rId101" Type="http://schemas.openxmlformats.org/officeDocument/2006/relationships/image" Target="../media/anim_image5.png"/><Relationship Id="rId102" Type="http://schemas.openxmlformats.org/officeDocument/2006/relationships/image" Target="../media/anim_image4.png"/><Relationship Id="rId103" Type="http://schemas.openxmlformats.org/officeDocument/2006/relationships/image" Target="../media/anim_image3.png"/><Relationship Id="rId104" Type="http://schemas.openxmlformats.org/officeDocument/2006/relationships/image" Target="../media/anim_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capstone project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Data Pipeline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portfolios in Saudi Riyal, automatically.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2606040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Maryam Alotaibi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4572000"/>
            <a:ext cx="2606040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45720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Fayhaa Alharbi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2606040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029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Rawan Alaklabi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20440" y="5029200"/>
            <a:ext cx="2606040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5029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Hanoof Alassiri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188720"/>
            <a:ext cx="356616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D:\stuff\bootcamp_project\presentation_build\img\fi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926080" cy="167335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955280" y="4160520"/>
            <a:ext cx="356616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D:\stuff\bootcamp_project\presentation_build\img\fi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44568"/>
            <a:ext cx="1920240" cy="228600"/>
          </a:xfrm>
          <a:prstGeom prst="rect">
            <a:avLst/>
          </a:prstGeom>
        </p:spPr>
      </p:pic>
      <p:pic>
        <p:nvPicPr>
          <p:cNvPr id="17" name="Image 2" descr="D:\stuff\bootcamp_project\presentation_build\img\fi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4343400"/>
            <a:ext cx="1097280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SDA Data Engineering Bootcamp · WeCloudData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 &amp; solution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637215" y="41148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65231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48111" y="411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500884"/>
            <a:ext cx="3767328" cy="1476756"/>
          </a:xfrm>
          <a:prstGeom prst="line">
            <a:avLst/>
          </a:prstGeom>
          <a:noFill/>
          <a:ln w="15875">
            <a:solidFill>
              <a:srgbClr val="BF951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H="1">
            <a:off x="6099048" y="2555748"/>
            <a:ext cx="3579876" cy="1421892"/>
          </a:xfrm>
          <a:prstGeom prst="line">
            <a:avLst/>
          </a:prstGeom>
          <a:noFill/>
          <a:ln w="15875">
            <a:solidFill>
              <a:srgbClr val="BF951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H="1">
            <a:off x="2866644" y="3977640"/>
            <a:ext cx="3232404" cy="1312164"/>
          </a:xfrm>
          <a:prstGeom prst="line">
            <a:avLst/>
          </a:prstGeom>
          <a:noFill/>
          <a:ln w="15875">
            <a:solidFill>
              <a:srgbClr val="BF951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099048" y="3977640"/>
            <a:ext cx="3442716" cy="1449324"/>
          </a:xfrm>
          <a:prstGeom prst="line">
            <a:avLst/>
          </a:prstGeom>
          <a:noFill/>
          <a:ln w="15875">
            <a:solidFill>
              <a:srgbClr val="BF951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956048" y="2834640"/>
            <a:ext cx="2286000" cy="2286000"/>
          </a:xfrm>
          <a:prstGeom prst="ellipse">
            <a:avLst/>
          </a:prstGeom>
          <a:solidFill>
            <a:srgbClr val="BF9514">
              <a:alpha val="15000"/>
            </a:srgbClr>
          </a:solidFill>
          <a:ln w="9525">
            <a:solidFill>
              <a:srgbClr val="BF9514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3063240"/>
            <a:ext cx="1828800" cy="1828800"/>
          </a:xfrm>
          <a:prstGeom prst="ellipse">
            <a:avLst/>
          </a:prstGeom>
          <a:solidFill>
            <a:srgbClr val="13241A"/>
          </a:solidFill>
          <a:ln w="19050">
            <a:solidFill>
              <a:srgbClr val="E0B53A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331927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230368" y="38496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portfolio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5230368" y="4197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SAR = 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1783080"/>
            <a:ext cx="3566160" cy="1435608"/>
          </a:xfrm>
          <a:prstGeom prst="roundRect">
            <a:avLst>
              <a:gd name="adj" fmla="val 10191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19476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73402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371600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ledger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371600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50,000 trades · every 45 min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31520" y="26243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31520" y="26243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clients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920240" y="2624328"/>
            <a:ext cx="1357884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920240" y="2624328"/>
            <a:ext cx="1357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portfolios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369564" y="26243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369564" y="26243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/ SELL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726680" y="1645920"/>
            <a:ext cx="3904488" cy="1819656"/>
          </a:xfrm>
          <a:prstGeom prst="roundRect">
            <a:avLst>
              <a:gd name="adj" fmla="val 804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909560" y="181051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90" y="1936242"/>
            <a:ext cx="251460" cy="25146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549640" y="1783080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 Vantage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8549640" y="20756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equities · USD · weekdays only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909560" y="248716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909560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AAPL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8805672" y="248716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805672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MSFT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9701784" y="248716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701784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10597896" y="248716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0597896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909560" y="2871216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909560" y="287121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805672" y="2871216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805672" y="287121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VOD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9701784" y="2871216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9701784" y="287121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SPY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10597896" y="2871216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10597896" y="287121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GLD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914400" y="4572000"/>
            <a:ext cx="3904488" cy="1435608"/>
          </a:xfrm>
          <a:prstGeom prst="roundRect">
            <a:avLst>
              <a:gd name="adj" fmla="val 10191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097280" y="473659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010" y="4862322"/>
            <a:ext cx="251460" cy="251460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737360" y="4709160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metalprice API</a:t>
            </a:r>
            <a:endParaRPr lang="en-US" sz="1400" dirty="0"/>
          </a:p>
        </p:txBody>
      </p:sp>
      <p:sp>
        <p:nvSpPr>
          <p:cNvPr id="54" name="Text 48"/>
          <p:cNvSpPr txBox="1"/>
          <p:nvPr/>
        </p:nvSpPr>
        <p:spPr>
          <a:xfrm>
            <a:off x="1737360" y="50017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metals · USD / oz · daily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1097280" y="541324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1097280" y="54132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XAU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1993392" y="541324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993392" y="54132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XAG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2889504" y="541324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2889504" y="54132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XPT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3785616" y="541324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3785616" y="54132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XPD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7589520" y="4709160"/>
            <a:ext cx="3904488" cy="1435608"/>
          </a:xfrm>
          <a:prstGeom prst="roundRect">
            <a:avLst>
              <a:gd name="adj" fmla="val 10191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7772400" y="487375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130" y="4999482"/>
            <a:ext cx="251460" cy="251460"/>
          </a:xfrm>
          <a:prstGeom prst="rect">
            <a:avLst/>
          </a:prstGeom>
        </p:spPr>
      </p:pic>
      <p:sp>
        <p:nvSpPr>
          <p:cNvPr id="66" name="Text 59"/>
          <p:cNvSpPr txBox="1"/>
          <p:nvPr/>
        </p:nvSpPr>
        <p:spPr>
          <a:xfrm>
            <a:off x="8412480" y="4846320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Exchange-rate API</a:t>
            </a:r>
            <a:endParaRPr lang="en-US" sz="1400" dirty="0"/>
          </a:p>
        </p:txBody>
      </p:sp>
      <p:sp>
        <p:nvSpPr>
          <p:cNvPr id="67" name="Text 60"/>
          <p:cNvSpPr txBox="1"/>
          <p:nvPr/>
        </p:nvSpPr>
        <p:spPr>
          <a:xfrm>
            <a:off x="8412480" y="51389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 rates · daily</a:t>
            </a:r>
            <a:endParaRPr lang="en-US" sz="1100" dirty="0"/>
          </a:p>
        </p:txBody>
      </p:sp>
      <p:sp>
        <p:nvSpPr>
          <p:cNvPr id="68" name="Shape 61"/>
          <p:cNvSpPr/>
          <p:nvPr/>
        </p:nvSpPr>
        <p:spPr>
          <a:xfrm>
            <a:off x="7772400" y="555040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7772400" y="55504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</a:t>
            </a:r>
            <a:endParaRPr lang="en-US" sz="1000" dirty="0"/>
          </a:p>
        </p:txBody>
      </p:sp>
      <p:sp>
        <p:nvSpPr>
          <p:cNvPr id="70" name="Shape 63"/>
          <p:cNvSpPr/>
          <p:nvPr/>
        </p:nvSpPr>
        <p:spPr>
          <a:xfrm>
            <a:off x="8668512" y="555040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8668512" y="55504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</a:t>
            </a:r>
            <a:endParaRPr lang="en-US" sz="1000" dirty="0"/>
          </a:p>
        </p:txBody>
      </p:sp>
      <p:sp>
        <p:nvSpPr>
          <p:cNvPr id="72" name="Shape 65"/>
          <p:cNvSpPr/>
          <p:nvPr/>
        </p:nvSpPr>
        <p:spPr>
          <a:xfrm>
            <a:off x="9564624" y="555040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9564624" y="55504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GBP</a:t>
            </a:r>
            <a:endParaRPr lang="en-US" sz="1000" dirty="0"/>
          </a:p>
        </p:txBody>
      </p:sp>
      <p:sp>
        <p:nvSpPr>
          <p:cNvPr id="74" name="Shape 67"/>
          <p:cNvSpPr/>
          <p:nvPr/>
        </p:nvSpPr>
        <p:spPr>
          <a:xfrm>
            <a:off x="10460736" y="555040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10460736" y="55504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 &amp; solution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637215" y="41148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65231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48111" y="411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148840"/>
            <a:ext cx="548640" cy="1417320"/>
          </a:xfrm>
          <a:prstGeom prst="line">
            <a:avLst/>
          </a:prstGeom>
          <a:noFill/>
          <a:ln w="15875">
            <a:solidFill>
              <a:srgbClr val="BF95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2011680" cy="731520"/>
          </a:xfrm>
          <a:prstGeom prst="roundRect">
            <a:avLst>
              <a:gd name="adj" fmla="val 2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8424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872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60320" y="3108960"/>
            <a:ext cx="548640" cy="457200"/>
          </a:xfrm>
          <a:prstGeom prst="line">
            <a:avLst/>
          </a:prstGeom>
          <a:noFill/>
          <a:ln w="15875">
            <a:solidFill>
              <a:srgbClr val="BF951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743200"/>
            <a:ext cx="2011680" cy="731520"/>
          </a:xfrm>
          <a:prstGeom prst="roundRect">
            <a:avLst>
              <a:gd name="adj" fmla="val 2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436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88720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Equities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 flipV="1">
            <a:off x="2560320" y="3566160"/>
            <a:ext cx="548640" cy="502920"/>
          </a:xfrm>
          <a:prstGeom prst="line">
            <a:avLst/>
          </a:prstGeom>
          <a:noFill/>
          <a:ln w="15875">
            <a:solidFill>
              <a:srgbClr val="BF951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703320"/>
            <a:ext cx="2011680" cy="731520"/>
          </a:xfrm>
          <a:prstGeom prst="roundRect">
            <a:avLst>
              <a:gd name="adj" fmla="val 2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044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703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Metals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 flipV="1">
            <a:off x="2560320" y="3566160"/>
            <a:ext cx="548640" cy="1463040"/>
          </a:xfrm>
          <a:prstGeom prst="line">
            <a:avLst/>
          </a:prstGeom>
          <a:noFill/>
          <a:ln w="15875">
            <a:solidFill>
              <a:srgbClr val="BF951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4663440"/>
            <a:ext cx="2011680" cy="731520"/>
          </a:xfrm>
          <a:prstGeom prst="roundRect">
            <a:avLst>
              <a:gd name="adj" fmla="val 2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6460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4663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 rates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3108960" y="2103120"/>
            <a:ext cx="4297680" cy="2926080"/>
          </a:xfrm>
          <a:prstGeom prst="roundRect">
            <a:avLst>
              <a:gd name="adj" fmla="val 5000"/>
            </a:avLst>
          </a:prstGeom>
          <a:solidFill>
            <a:srgbClr val="2B6136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10896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pipeline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447288" y="2743200"/>
            <a:ext cx="603504" cy="603504"/>
          </a:xfrm>
          <a:prstGeom prst="roundRect">
            <a:avLst>
              <a:gd name="adj" fmla="val 27273"/>
            </a:avLst>
          </a:prstGeom>
          <a:solidFill>
            <a:srgbClr val="0B1510">
              <a:alpha val="70000"/>
            </a:srgbClr>
          </a:solidFill>
          <a:ln w="9525">
            <a:solidFill>
              <a:srgbClr val="4E9A6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2889504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24612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4050792" y="274320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4"/>
          <p:cNvSpPr/>
          <p:nvPr/>
        </p:nvSpPr>
        <p:spPr>
          <a:xfrm>
            <a:off x="4453128" y="2743200"/>
            <a:ext cx="603504" cy="603504"/>
          </a:xfrm>
          <a:prstGeom prst="roundRect">
            <a:avLst>
              <a:gd name="adj" fmla="val 27273"/>
            </a:avLst>
          </a:prstGeom>
          <a:solidFill>
            <a:srgbClr val="0B1510">
              <a:alpha val="70000"/>
            </a:srgbClr>
          </a:solidFill>
          <a:ln w="9525">
            <a:solidFill>
              <a:srgbClr val="4E9A6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2889504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25196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ADLS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056632" y="274320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27"/>
          <p:cNvSpPr/>
          <p:nvPr/>
        </p:nvSpPr>
        <p:spPr>
          <a:xfrm>
            <a:off x="5458968" y="2743200"/>
            <a:ext cx="603504" cy="603504"/>
          </a:xfrm>
          <a:prstGeom prst="roundRect">
            <a:avLst>
              <a:gd name="adj" fmla="val 27273"/>
            </a:avLst>
          </a:prstGeom>
          <a:solidFill>
            <a:srgbClr val="0B1510">
              <a:alpha val="70000"/>
            </a:srgbClr>
          </a:solidFill>
          <a:ln w="9525">
            <a:solidFill>
              <a:srgbClr val="4E9A62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272" y="2889504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25780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Snowflake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6062472" y="274320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0"/>
          <p:cNvSpPr/>
          <p:nvPr/>
        </p:nvSpPr>
        <p:spPr>
          <a:xfrm>
            <a:off x="6464808" y="2743200"/>
            <a:ext cx="603504" cy="603504"/>
          </a:xfrm>
          <a:prstGeom prst="roundRect">
            <a:avLst>
              <a:gd name="adj" fmla="val 27273"/>
            </a:avLst>
          </a:prstGeom>
          <a:solidFill>
            <a:srgbClr val="0B1510">
              <a:alpha val="70000"/>
            </a:srgbClr>
          </a:solidFill>
          <a:ln w="9525">
            <a:solidFill>
              <a:srgbClr val="4E9A62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2889504"/>
            <a:ext cx="310896" cy="31089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26364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3429000" y="41605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F9514"/>
          </a:solidFill>
          <a:ln w="9525">
            <a:solidFill>
              <a:srgbClr val="BF951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3429000" y="4160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5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validated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4709160" y="41605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F9514"/>
          </a:solidFill>
          <a:ln w="9525">
            <a:solidFill>
              <a:srgbClr val="BF9514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4709160" y="4160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5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 SAR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5989320" y="41605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F9514"/>
          </a:solidFill>
          <a:ln w="9525">
            <a:solidFill>
              <a:srgbClr val="BF9514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5989320" y="4160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5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tested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7406640" y="31089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B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4000" dirty="0"/>
          </a:p>
        </p:txBody>
      </p:sp>
      <p:sp>
        <p:nvSpPr>
          <p:cNvPr id="49" name="Shape 39"/>
          <p:cNvSpPr/>
          <p:nvPr/>
        </p:nvSpPr>
        <p:spPr>
          <a:xfrm>
            <a:off x="7909560" y="2011680"/>
            <a:ext cx="3749040" cy="3108960"/>
          </a:xfrm>
          <a:prstGeom prst="roundRect">
            <a:avLst>
              <a:gd name="adj" fmla="val 4706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50" name="Image 8" descr="D:\stuff\bootcamp_project\presentation_build\img\overview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046720" y="2148840"/>
            <a:ext cx="3474720" cy="2112264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04672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live view per client, in SAR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stakeholders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wealth management teams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637215" y="41148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65231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48111" y="411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3368"/>
            </a:avLst>
          </a:prstGeom>
          <a:solidFill>
            <a:srgbClr val="2B6136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4884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0B1510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2343150"/>
            <a:ext cx="388620" cy="3886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144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user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566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Wealth managers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2976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daily SAR view of every individual client: value, P&amp;L, allocation.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63640" y="178308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2148840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2297430"/>
            <a:ext cx="297180" cy="2971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52360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&amp; compliance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52360" y="24780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Currency exposure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63640" y="3264408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3630168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3778758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452360" y="3520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7452360" y="3959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at a glance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263640" y="4745736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83680" y="5111496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1A3023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70" y="5260086"/>
            <a:ext cx="297180" cy="2971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52360" y="50017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IT teams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52360" y="5440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Automated, tested pipeline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technology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InvaSight runs 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637215" y="41148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65231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48111" y="411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566928" cy="5669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Airflow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83280" y="178308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057400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576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SQL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57400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landing zone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ADLS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9052560" y="178308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057400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268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932688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Snowflake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397764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51960"/>
            <a:ext cx="566928" cy="56692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296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3383280" y="397764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4251960"/>
            <a:ext cx="566928" cy="56692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65760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365760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217920" y="397764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251960"/>
            <a:ext cx="566928" cy="56692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49224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 &amp; ci/cd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49224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· GitHub Actions</a:t>
            </a:r>
            <a:endParaRPr lang="en-US" sz="1500" dirty="0"/>
          </a:p>
        </p:txBody>
      </p:sp>
      <p:sp>
        <p:nvSpPr>
          <p:cNvPr id="37" name="Shape 28"/>
          <p:cNvSpPr/>
          <p:nvPr/>
        </p:nvSpPr>
        <p:spPr>
          <a:xfrm>
            <a:off x="9052560" y="3977640"/>
            <a:ext cx="2606040" cy="2011680"/>
          </a:xfrm>
          <a:prstGeom prst="roundRect">
            <a:avLst>
              <a:gd name="adj" fmla="val 7273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0" y="4251960"/>
            <a:ext cx="566928" cy="56692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32688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endParaRPr lang="en-US" sz="1100" dirty="0"/>
          </a:p>
        </p:txBody>
      </p:sp>
      <p:sp>
        <p:nvSpPr>
          <p:cNvPr id="40" name="Text 30"/>
          <p:cNvSpPr txBox="1"/>
          <p:nvPr/>
        </p:nvSpPr>
        <p:spPr>
          <a:xfrm>
            <a:off x="932688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EC2 · Secrets Manager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it works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 architecture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Maryam</a:t>
            </a:r>
            <a:endParaRPr lang="en-US" sz="1200" dirty="0"/>
          </a:p>
        </p:txBody>
      </p:sp>
      <p:sp>
        <p:nvSpPr>
          <p:cNvPr id="1002" name="Shape 0"/>
          <p:cNvSpPr/>
          <p:nvPr/>
        </p:nvSpPr>
        <p:spPr>
          <a:xfrm>
            <a:off x="1210666" y="1691640"/>
            <a:ext cx="7527339" cy="627278"/>
          </a:xfrm>
          <a:prstGeom prst="rect">
            <a:avLst/>
          </a:prstGeom>
          <a:solidFill>
            <a:srgbClr val="13241A"/>
          </a:solidFill>
          <a:ln w="1587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Text 2"/>
          <p:cNvSpPr txBox="1"/>
          <p:nvPr/>
        </p:nvSpPr>
        <p:spPr>
          <a:xfrm>
            <a:off x="1210666" y="1762537"/>
            <a:ext cx="7527339" cy="21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1005" name="Text 3"/>
          <p:cNvSpPr txBox="1"/>
          <p:nvPr/>
        </p:nvSpPr>
        <p:spPr>
          <a:xfrm>
            <a:off x="1210666" y="1982096"/>
            <a:ext cx="7527339" cy="179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orchestration: schedules and triggers every step</a:t>
            </a:r>
            <a:endParaRPr lang="en-US" sz="1050" dirty="0"/>
          </a:p>
        </p:txBody>
      </p:sp>
      <p:sp>
        <p:nvSpPr>
          <p:cNvPr id="1006" name="Shape 4"/>
          <p:cNvSpPr/>
          <p:nvPr/>
        </p:nvSpPr>
        <p:spPr>
          <a:xfrm>
            <a:off x="1210666" y="3250875"/>
            <a:ext cx="1613001" cy="322600"/>
          </a:xfrm>
          <a:prstGeom prst="rect">
            <a:avLst/>
          </a:prstGeom>
          <a:solidFill>
            <a:srgbClr val="1A3023"/>
          </a:solidFill>
          <a:ln w="952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6"/>
          <p:cNvSpPr txBox="1"/>
          <p:nvPr/>
        </p:nvSpPr>
        <p:spPr>
          <a:xfrm>
            <a:off x="1396758" y="3253952"/>
            <a:ext cx="125455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ledger</a:t>
            </a:r>
            <a:endParaRPr lang="en-US" sz="1100" dirty="0"/>
          </a:p>
        </p:txBody>
      </p:sp>
      <p:sp>
        <p:nvSpPr>
          <p:cNvPr id="1009" name="Shape 7"/>
          <p:cNvSpPr/>
          <p:nvPr/>
        </p:nvSpPr>
        <p:spPr>
          <a:xfrm>
            <a:off x="2823667" y="3412175"/>
            <a:ext cx="313638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Shape 8"/>
          <p:cNvSpPr/>
          <p:nvPr/>
        </p:nvSpPr>
        <p:spPr>
          <a:xfrm>
            <a:off x="1210666" y="3645164"/>
            <a:ext cx="1613001" cy="322600"/>
          </a:xfrm>
          <a:prstGeom prst="rect">
            <a:avLst/>
          </a:prstGeom>
          <a:solidFill>
            <a:srgbClr val="1A3023"/>
          </a:solidFill>
          <a:ln w="952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2" name="Text 10"/>
          <p:cNvSpPr txBox="1"/>
          <p:nvPr/>
        </p:nvSpPr>
        <p:spPr>
          <a:xfrm>
            <a:off x="1396758" y="3648241"/>
            <a:ext cx="125455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Equity prices</a:t>
            </a:r>
            <a:endParaRPr lang="en-US" sz="1100" dirty="0"/>
          </a:p>
        </p:txBody>
      </p:sp>
      <p:sp>
        <p:nvSpPr>
          <p:cNvPr id="1013" name="Shape 11"/>
          <p:cNvSpPr/>
          <p:nvPr/>
        </p:nvSpPr>
        <p:spPr>
          <a:xfrm>
            <a:off x="2823667" y="3806464"/>
            <a:ext cx="313638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Shape 12"/>
          <p:cNvSpPr/>
          <p:nvPr/>
        </p:nvSpPr>
        <p:spPr>
          <a:xfrm>
            <a:off x="1210666" y="4039453"/>
            <a:ext cx="1613001" cy="322600"/>
          </a:xfrm>
          <a:prstGeom prst="rect">
            <a:avLst/>
          </a:prstGeom>
          <a:solidFill>
            <a:srgbClr val="1A3023"/>
          </a:solidFill>
          <a:ln w="952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6" name="Text 14"/>
          <p:cNvSpPr txBox="1"/>
          <p:nvPr/>
        </p:nvSpPr>
        <p:spPr>
          <a:xfrm>
            <a:off x="1396758" y="4042530"/>
            <a:ext cx="125455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Precious metals</a:t>
            </a:r>
            <a:endParaRPr lang="en-US" sz="1100" dirty="0"/>
          </a:p>
        </p:txBody>
      </p:sp>
      <p:sp>
        <p:nvSpPr>
          <p:cNvPr id="1017" name="Shape 15"/>
          <p:cNvSpPr/>
          <p:nvPr/>
        </p:nvSpPr>
        <p:spPr>
          <a:xfrm>
            <a:off x="2823667" y="4200753"/>
            <a:ext cx="313638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18" name="Shape 16"/>
          <p:cNvSpPr/>
          <p:nvPr/>
        </p:nvSpPr>
        <p:spPr>
          <a:xfrm>
            <a:off x="1210666" y="4433742"/>
            <a:ext cx="1613001" cy="322600"/>
          </a:xfrm>
          <a:prstGeom prst="rect">
            <a:avLst/>
          </a:prstGeom>
          <a:solidFill>
            <a:srgbClr val="1A3023"/>
          </a:solidFill>
          <a:ln w="952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Text 18"/>
          <p:cNvSpPr txBox="1"/>
          <p:nvPr/>
        </p:nvSpPr>
        <p:spPr>
          <a:xfrm>
            <a:off x="1396758" y="4436820"/>
            <a:ext cx="125455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 rates</a:t>
            </a:r>
            <a:endParaRPr lang="en-US" sz="1100" dirty="0"/>
          </a:p>
        </p:txBody>
      </p:sp>
      <p:sp>
        <p:nvSpPr>
          <p:cNvPr id="1021" name="Shape 19"/>
          <p:cNvSpPr/>
          <p:nvPr/>
        </p:nvSpPr>
        <p:spPr>
          <a:xfrm>
            <a:off x="2823667" y="4595043"/>
            <a:ext cx="313638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Shape 20"/>
          <p:cNvSpPr/>
          <p:nvPr/>
        </p:nvSpPr>
        <p:spPr>
          <a:xfrm>
            <a:off x="3137306" y="3412175"/>
            <a:ext cx="0" cy="1182867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23" name="Shape 21"/>
          <p:cNvSpPr/>
          <p:nvPr/>
        </p:nvSpPr>
        <p:spPr>
          <a:xfrm>
            <a:off x="3137306" y="4021530"/>
            <a:ext cx="403250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Text 22"/>
          <p:cNvSpPr txBox="1"/>
          <p:nvPr/>
        </p:nvSpPr>
        <p:spPr>
          <a:xfrm>
            <a:off x="1210666" y="4810110"/>
            <a:ext cx="1613001" cy="16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1025" name="Shape 23"/>
          <p:cNvSpPr/>
          <p:nvPr/>
        </p:nvSpPr>
        <p:spPr>
          <a:xfrm>
            <a:off x="3540557" y="3483864"/>
            <a:ext cx="1523390" cy="1075334"/>
          </a:xfrm>
          <a:prstGeom prst="rect">
            <a:avLst/>
          </a:prstGeom>
          <a:solidFill>
            <a:srgbClr val="13241A"/>
          </a:solidFill>
          <a:ln w="1587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Text 25"/>
          <p:cNvSpPr txBox="1"/>
          <p:nvPr/>
        </p:nvSpPr>
        <p:spPr>
          <a:xfrm>
            <a:off x="3540557" y="3985467"/>
            <a:ext cx="1523390" cy="21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ADLS</a:t>
            </a:r>
            <a:endParaRPr lang="en-US" sz="1300" dirty="0"/>
          </a:p>
        </p:txBody>
      </p:sp>
      <p:sp>
        <p:nvSpPr>
          <p:cNvPr id="1028" name="Text 26"/>
          <p:cNvSpPr txBox="1"/>
          <p:nvPr/>
        </p:nvSpPr>
        <p:spPr>
          <a:xfrm>
            <a:off x="3540557" y="4182611"/>
            <a:ext cx="1523390" cy="179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zone</a:t>
            </a:r>
            <a:endParaRPr lang="en-US" sz="1050" dirty="0"/>
          </a:p>
        </p:txBody>
      </p:sp>
      <p:sp>
        <p:nvSpPr>
          <p:cNvPr id="1029" name="Shape 27"/>
          <p:cNvSpPr/>
          <p:nvPr/>
        </p:nvSpPr>
        <p:spPr>
          <a:xfrm>
            <a:off x="5063946" y="4021530"/>
            <a:ext cx="1164945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28"/>
          <p:cNvSpPr/>
          <p:nvPr/>
        </p:nvSpPr>
        <p:spPr>
          <a:xfrm>
            <a:off x="6228892" y="3322563"/>
            <a:ext cx="2509112" cy="1388973"/>
          </a:xfrm>
          <a:prstGeom prst="rect">
            <a:avLst/>
          </a:prstGeom>
          <a:solidFill>
            <a:srgbClr val="13241A"/>
          </a:solidFill>
          <a:ln w="1587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2" name="Text 30"/>
          <p:cNvSpPr txBox="1"/>
          <p:nvPr/>
        </p:nvSpPr>
        <p:spPr>
          <a:xfrm>
            <a:off x="6228893" y="3819125"/>
            <a:ext cx="2509112" cy="21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Snowflake</a:t>
            </a:r>
            <a:endParaRPr lang="en-US" sz="1300" dirty="0"/>
          </a:p>
        </p:txBody>
      </p:sp>
      <p:sp>
        <p:nvSpPr>
          <p:cNvPr id="1033" name="Text 31"/>
          <p:cNvSpPr txBox="1"/>
          <p:nvPr/>
        </p:nvSpPr>
        <p:spPr>
          <a:xfrm>
            <a:off x="6228893" y="4016270"/>
            <a:ext cx="2509112" cy="179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warehouse</a:t>
            </a:r>
            <a:endParaRPr lang="en-US" sz="1050" dirty="0"/>
          </a:p>
        </p:txBody>
      </p:sp>
      <p:sp>
        <p:nvSpPr>
          <p:cNvPr id="1034" name="Shape 32"/>
          <p:cNvSpPr/>
          <p:nvPr/>
        </p:nvSpPr>
        <p:spPr>
          <a:xfrm>
            <a:off x="6372270" y="4308287"/>
            <a:ext cx="645200" cy="268833"/>
          </a:xfrm>
          <a:prstGeom prst="rect">
            <a:avLst/>
          </a:prstGeom>
          <a:solidFill>
            <a:srgbClr val="1A3023"/>
          </a:solidFill>
          <a:ln w="952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5" name="Text 33"/>
          <p:cNvSpPr txBox="1"/>
          <p:nvPr/>
        </p:nvSpPr>
        <p:spPr>
          <a:xfrm>
            <a:off x="6372270" y="4308287"/>
            <a:ext cx="645200" cy="268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</a:t>
            </a:r>
            <a:endParaRPr lang="en-US" sz="1050" dirty="0"/>
          </a:p>
        </p:txBody>
      </p:sp>
      <p:sp>
        <p:nvSpPr>
          <p:cNvPr id="1036" name="Shape 34"/>
          <p:cNvSpPr/>
          <p:nvPr/>
        </p:nvSpPr>
        <p:spPr>
          <a:xfrm>
            <a:off x="7017471" y="4442704"/>
            <a:ext cx="143378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Shape 35"/>
          <p:cNvSpPr/>
          <p:nvPr/>
        </p:nvSpPr>
        <p:spPr>
          <a:xfrm>
            <a:off x="7160848" y="4308287"/>
            <a:ext cx="645200" cy="268833"/>
          </a:xfrm>
          <a:prstGeom prst="rect">
            <a:avLst/>
          </a:prstGeom>
          <a:solidFill>
            <a:srgbClr val="1A3023"/>
          </a:solidFill>
          <a:ln w="952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" name="Text 36"/>
          <p:cNvSpPr txBox="1"/>
          <p:nvPr/>
        </p:nvSpPr>
        <p:spPr>
          <a:xfrm>
            <a:off x="7160848" y="4308287"/>
            <a:ext cx="645200" cy="268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</a:t>
            </a:r>
            <a:endParaRPr lang="en-US" sz="1050" dirty="0"/>
          </a:p>
        </p:txBody>
      </p:sp>
      <p:sp>
        <p:nvSpPr>
          <p:cNvPr id="1039" name="Shape 37"/>
          <p:cNvSpPr/>
          <p:nvPr/>
        </p:nvSpPr>
        <p:spPr>
          <a:xfrm>
            <a:off x="7806049" y="4442704"/>
            <a:ext cx="143378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40" name="Shape 38"/>
          <p:cNvSpPr/>
          <p:nvPr/>
        </p:nvSpPr>
        <p:spPr>
          <a:xfrm>
            <a:off x="7949428" y="4308287"/>
            <a:ext cx="645200" cy="268833"/>
          </a:xfrm>
          <a:prstGeom prst="rect">
            <a:avLst/>
          </a:prstGeom>
          <a:solidFill>
            <a:srgbClr val="1A3023"/>
          </a:solidFill>
          <a:ln w="952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1" name="Text 39"/>
          <p:cNvSpPr txBox="1"/>
          <p:nvPr/>
        </p:nvSpPr>
        <p:spPr>
          <a:xfrm>
            <a:off x="7949428" y="4308287"/>
            <a:ext cx="645200" cy="268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1042" name="Shape 40"/>
          <p:cNvSpPr/>
          <p:nvPr/>
        </p:nvSpPr>
        <p:spPr>
          <a:xfrm>
            <a:off x="8738006" y="4021530"/>
            <a:ext cx="896111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43" name="Shape 41"/>
          <p:cNvSpPr/>
          <p:nvPr/>
        </p:nvSpPr>
        <p:spPr>
          <a:xfrm>
            <a:off x="9634117" y="3412176"/>
            <a:ext cx="1344167" cy="1147023"/>
          </a:xfrm>
          <a:prstGeom prst="rect">
            <a:avLst/>
          </a:prstGeom>
          <a:solidFill>
            <a:srgbClr val="13241A"/>
          </a:solidFill>
          <a:ln w="1587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5" name="Text 43"/>
          <p:cNvSpPr txBox="1"/>
          <p:nvPr/>
        </p:nvSpPr>
        <p:spPr>
          <a:xfrm>
            <a:off x="9634117" y="3949842"/>
            <a:ext cx="1344167" cy="21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046" name="Text 44"/>
          <p:cNvSpPr txBox="1"/>
          <p:nvPr/>
        </p:nvSpPr>
        <p:spPr>
          <a:xfrm>
            <a:off x="9634117" y="4146986"/>
            <a:ext cx="1344167" cy="179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047" name="Shape 45"/>
          <p:cNvSpPr/>
          <p:nvPr/>
        </p:nvSpPr>
        <p:spPr>
          <a:xfrm>
            <a:off x="6632143" y="5276088"/>
            <a:ext cx="1702612" cy="896111"/>
          </a:xfrm>
          <a:prstGeom prst="rect">
            <a:avLst/>
          </a:prstGeom>
          <a:solidFill>
            <a:srgbClr val="13241A"/>
          </a:solidFill>
          <a:ln w="15875">
            <a:solidFill>
              <a:srgbClr val="A9C9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47"/>
          <p:cNvSpPr txBox="1"/>
          <p:nvPr/>
        </p:nvSpPr>
        <p:spPr>
          <a:xfrm>
            <a:off x="6632143" y="5706221"/>
            <a:ext cx="1702612" cy="215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</a:t>
            </a:r>
            <a:endParaRPr lang="en-US" sz="1300" dirty="0"/>
          </a:p>
        </p:txBody>
      </p:sp>
      <p:sp>
        <p:nvSpPr>
          <p:cNvPr id="1050" name="Text 48"/>
          <p:cNvSpPr txBox="1"/>
          <p:nvPr/>
        </p:nvSpPr>
        <p:spPr>
          <a:xfrm>
            <a:off x="6632143" y="5903366"/>
            <a:ext cx="1702612" cy="179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&amp; tests</a:t>
            </a:r>
            <a:endParaRPr lang="en-US" sz="1050" dirty="0"/>
          </a:p>
        </p:txBody>
      </p:sp>
      <p:sp>
        <p:nvSpPr>
          <p:cNvPr id="1051" name="Shape 49"/>
          <p:cNvSpPr/>
          <p:nvPr/>
        </p:nvSpPr>
        <p:spPr>
          <a:xfrm flipV="1">
            <a:off x="7483449" y="4729459"/>
            <a:ext cx="0" cy="546627"/>
          </a:xfrm>
          <a:prstGeom prst="line">
            <a:avLst/>
          </a:prstGeom>
          <a:noFill/>
          <a:ln w="15875">
            <a:solidFill>
              <a:srgbClr val="A9C9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2" name="Shape 50"/>
          <p:cNvSpPr/>
          <p:nvPr/>
        </p:nvSpPr>
        <p:spPr>
          <a:xfrm>
            <a:off x="2017167" y="2318918"/>
            <a:ext cx="0" cy="914034"/>
          </a:xfrm>
          <a:prstGeom prst="line">
            <a:avLst/>
          </a:prstGeom>
          <a:noFill/>
          <a:ln w="15875">
            <a:solidFill>
              <a:srgbClr val="A9C9A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3" name="Text 51"/>
          <p:cNvSpPr/>
          <p:nvPr/>
        </p:nvSpPr>
        <p:spPr>
          <a:xfrm>
            <a:off x="2106777" y="2774531"/>
            <a:ext cx="161300" cy="161300"/>
          </a:xfrm>
          <a:prstGeom prst="ellipse">
            <a:avLst/>
          </a:prstGeom>
          <a:solidFill>
            <a:srgbClr val="13241A"/>
          </a:solidFill>
          <a:ln w="9525">
            <a:solidFill>
              <a:srgbClr val="A9C9A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054" name="Text 52"/>
          <p:cNvSpPr txBox="1"/>
          <p:nvPr/>
        </p:nvSpPr>
        <p:spPr>
          <a:xfrm>
            <a:off x="2330805" y="2738687"/>
            <a:ext cx="1971446" cy="232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/ fetch &amp; validate</a:t>
            </a:r>
            <a:endParaRPr lang="en-US" sz="1250" dirty="0"/>
          </a:p>
        </p:txBody>
      </p:sp>
      <p:sp>
        <p:nvSpPr>
          <p:cNvPr id="1055" name="Shape 53"/>
          <p:cNvSpPr/>
          <p:nvPr/>
        </p:nvSpPr>
        <p:spPr>
          <a:xfrm>
            <a:off x="4302252" y="2318918"/>
            <a:ext cx="0" cy="1147023"/>
          </a:xfrm>
          <a:prstGeom prst="line">
            <a:avLst/>
          </a:prstGeom>
          <a:noFill/>
          <a:ln w="15875">
            <a:solidFill>
              <a:srgbClr val="A9C9A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6" name="Text 54"/>
          <p:cNvSpPr/>
          <p:nvPr/>
        </p:nvSpPr>
        <p:spPr>
          <a:xfrm>
            <a:off x="4391862" y="2774531"/>
            <a:ext cx="161300" cy="161300"/>
          </a:xfrm>
          <a:prstGeom prst="ellipse">
            <a:avLst/>
          </a:prstGeom>
          <a:solidFill>
            <a:srgbClr val="13241A"/>
          </a:solidFill>
          <a:ln w="9525">
            <a:solidFill>
              <a:srgbClr val="A9C9A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057" name="Text 55"/>
          <p:cNvSpPr txBox="1"/>
          <p:nvPr/>
        </p:nvSpPr>
        <p:spPr>
          <a:xfrm>
            <a:off x="4615890" y="2738687"/>
            <a:ext cx="896111" cy="232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1250" dirty="0"/>
          </a:p>
        </p:txBody>
      </p:sp>
      <p:sp>
        <p:nvSpPr>
          <p:cNvPr id="1058" name="Shape 56"/>
          <p:cNvSpPr/>
          <p:nvPr/>
        </p:nvSpPr>
        <p:spPr>
          <a:xfrm>
            <a:off x="7125005" y="2318918"/>
            <a:ext cx="0" cy="985723"/>
          </a:xfrm>
          <a:prstGeom prst="line">
            <a:avLst/>
          </a:prstGeom>
          <a:noFill/>
          <a:ln w="15875">
            <a:solidFill>
              <a:srgbClr val="A9C9A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Text 57"/>
          <p:cNvSpPr/>
          <p:nvPr/>
        </p:nvSpPr>
        <p:spPr>
          <a:xfrm>
            <a:off x="7214615" y="2774531"/>
            <a:ext cx="161300" cy="161300"/>
          </a:xfrm>
          <a:prstGeom prst="ellipse">
            <a:avLst/>
          </a:prstGeom>
          <a:solidFill>
            <a:srgbClr val="13241A"/>
          </a:solidFill>
          <a:ln w="9525">
            <a:solidFill>
              <a:srgbClr val="A9C9A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1060" name="Text 58"/>
          <p:cNvSpPr txBox="1"/>
          <p:nvPr/>
        </p:nvSpPr>
        <p:spPr>
          <a:xfrm>
            <a:off x="7438642" y="2738687"/>
            <a:ext cx="1164945" cy="232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9C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INTO</a:t>
            </a:r>
            <a:endParaRPr lang="en-US" sz="1250" dirty="0"/>
          </a:p>
        </p:txBody>
      </p:sp>
      <p:sp>
        <p:nvSpPr>
          <p:cNvPr id="1061" name="Shape 59"/>
          <p:cNvSpPr/>
          <p:nvPr/>
        </p:nvSpPr>
        <p:spPr>
          <a:xfrm>
            <a:off x="5646419" y="2318918"/>
            <a:ext cx="0" cy="3405225"/>
          </a:xfrm>
          <a:prstGeom prst="line">
            <a:avLst/>
          </a:prstGeom>
          <a:noFill/>
          <a:ln w="15875">
            <a:solidFill>
              <a:srgbClr val="A9C9AE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62" name="Shape 60"/>
          <p:cNvSpPr/>
          <p:nvPr/>
        </p:nvSpPr>
        <p:spPr>
          <a:xfrm>
            <a:off x="5646419" y="5724144"/>
            <a:ext cx="967801" cy="0"/>
          </a:xfrm>
          <a:prstGeom prst="line">
            <a:avLst/>
          </a:prstGeom>
          <a:noFill/>
          <a:ln w="15875">
            <a:solidFill>
              <a:srgbClr val="A9C9A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63" name="Text 61"/>
          <p:cNvSpPr/>
          <p:nvPr/>
        </p:nvSpPr>
        <p:spPr>
          <a:xfrm>
            <a:off x="5736031" y="5428427"/>
            <a:ext cx="161300" cy="161300"/>
          </a:xfrm>
          <a:prstGeom prst="ellipse">
            <a:avLst/>
          </a:prstGeom>
          <a:solidFill>
            <a:srgbClr val="13241A"/>
          </a:solidFill>
          <a:ln w="9525">
            <a:solidFill>
              <a:srgbClr val="A9C9A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1064" name="Text 62"/>
          <p:cNvSpPr txBox="1"/>
          <p:nvPr/>
        </p:nvSpPr>
        <p:spPr>
          <a:xfrm>
            <a:off x="5960059" y="5392582"/>
            <a:ext cx="716889" cy="232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 build</a:t>
            </a:r>
            <a:endParaRPr lang="en-US" sz="1250" dirty="0"/>
          </a:p>
        </p:txBody>
      </p:sp>
      <p:pic>
        <p:nvPicPr>
          <p:cNvPr id="1070" name="Picture 69">
            <a:extLst>
              <a:ext uri="{FF2B5EF4-FFF2-40B4-BE49-F238E27FC236}">
                <a16:creationId xmlns:a16="http://schemas.microsoft.com/office/drawing/2014/main" id="{60107D05-DE66-D19E-7A07-F58186423647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0125633" y="3573475"/>
            <a:ext cx="361135" cy="361135"/>
          </a:xfrm>
          <a:prstGeom prst="rect">
            <a:avLst/>
          </a:prstGeom>
        </p:spPr>
      </p:pic>
      <p:pic>
        <p:nvPicPr>
          <p:cNvPr id="1072" name="Picture 71">
            <a:extLst>
              <a:ext uri="{FF2B5EF4-FFF2-40B4-BE49-F238E27FC236}">
                <a16:creationId xmlns:a16="http://schemas.microsoft.com/office/drawing/2014/main" id="{F0D2D07A-E065-35A4-B300-49AA1FB1B4A4}"/>
              </a:ext>
            </a:extLst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4138333" y="3645164"/>
            <a:ext cx="327837" cy="327837"/>
          </a:xfrm>
          <a:prstGeom prst="rect">
            <a:avLst/>
          </a:prstGeom>
        </p:spPr>
      </p:pic>
      <p:pic>
        <p:nvPicPr>
          <p:cNvPr id="1074" name="Picture 73">
            <a:extLst>
              <a:ext uri="{FF2B5EF4-FFF2-40B4-BE49-F238E27FC236}">
                <a16:creationId xmlns:a16="http://schemas.microsoft.com/office/drawing/2014/main" id="{3E091F3F-1A95-B40B-1B59-DC0043DE0F14}"/>
              </a:ext>
            </a:extLst>
          </p:cNvPr>
          <p:cNvPicPr>
            <a:picLocks noChangeAspect="1"/>
          </p:cNvPicPr>
          <p:nvPr/>
        </p:nvPicPr>
        <p:blipFill>
          <a:blip r:embed="rId103"/>
          <a:srcRect t="-10364" r="75075"/>
          <a:stretch>
            <a:fillRect/>
          </a:stretch>
        </p:blipFill>
        <p:spPr>
          <a:xfrm>
            <a:off x="7295265" y="3435117"/>
            <a:ext cx="361135" cy="383767"/>
          </a:xfrm>
          <a:prstGeom prst="rect">
            <a:avLst/>
          </a:prstGeom>
        </p:spPr>
      </p:pic>
      <p:pic>
        <p:nvPicPr>
          <p:cNvPr id="1076" name="Picture 75">
            <a:extLst>
              <a:ext uri="{FF2B5EF4-FFF2-40B4-BE49-F238E27FC236}">
                <a16:creationId xmlns:a16="http://schemas.microsoft.com/office/drawing/2014/main" id="{3E540404-9E62-D9E5-E532-BB77F325828C}"/>
              </a:ext>
            </a:extLst>
          </p:cNvPr>
          <p:cNvPicPr>
            <a:picLocks noChangeAspect="1"/>
          </p:cNvPicPr>
          <p:nvPr/>
        </p:nvPicPr>
        <p:blipFill>
          <a:blip r:embed="rId102"/>
          <a:srcRect t="-5301" r="58781"/>
          <a:stretch>
            <a:fillRect/>
          </a:stretch>
        </p:blipFill>
        <p:spPr>
          <a:xfrm>
            <a:off x="7333700" y="5388070"/>
            <a:ext cx="354816" cy="329942"/>
          </a:xfrm>
          <a:prstGeom prst="rect">
            <a:avLst/>
          </a:prstGeom>
        </p:spPr>
      </p:pic>
      <p:pic>
        <p:nvPicPr>
          <p:cNvPr id="1078" name="Picture 77">
            <a:extLst>
              <a:ext uri="{FF2B5EF4-FFF2-40B4-BE49-F238E27FC236}">
                <a16:creationId xmlns:a16="http://schemas.microsoft.com/office/drawing/2014/main" id="{B587AB02-1547-66AA-2810-3FCAAE5383A2}"/>
              </a:ext>
            </a:extLst>
          </p:cNvPr>
          <p:cNvPicPr>
            <a:picLocks noChangeAspect="1"/>
          </p:cNvPicPr>
          <p:nvPr/>
        </p:nvPicPr>
        <p:blipFill>
          <a:blip r:embed="rId101"/>
          <a:srcRect r="59313"/>
          <a:stretch>
            <a:fillRect/>
          </a:stretch>
        </p:blipFill>
        <p:spPr>
          <a:xfrm>
            <a:off x="1447919" y="1788630"/>
            <a:ext cx="424164" cy="402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000"/>
                            </p:stCondLst>
                            <p:childTnLst>
                              <p:par>
                                <p:cTn id="2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running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Fayhaa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10543032" cy="4443984"/>
          </a:xfrm>
          <a:prstGeom prst="roundRect">
            <a:avLst>
              <a:gd name="adj" fmla="val 3292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901952"/>
            <a:ext cx="100584" cy="100584"/>
          </a:xfrm>
          <a:prstGeom prst="ellipse">
            <a:avLst/>
          </a:prstGeom>
          <a:solidFill>
            <a:srgbClr val="D9695A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1901952"/>
            <a:ext cx="100584" cy="100584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1901952"/>
            <a:ext cx="100584" cy="100584"/>
          </a:xfrm>
          <a:prstGeom prst="ellipse">
            <a:avLst/>
          </a:prstGeom>
          <a:solidFill>
            <a:srgbClr val="4E9A62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1828800"/>
            <a:ext cx="9537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 · ledger every 45 min · market data daily</a:t>
            </a:r>
            <a:endParaRPr lang="en-US" sz="950" dirty="0"/>
          </a:p>
        </p:txBody>
      </p:sp>
      <p:pic>
        <p:nvPicPr>
          <p:cNvPr id="14" name="Image 0" descr="D:\stuff\bootcamp_project\presentation_build\img\fig6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2112264"/>
            <a:ext cx="10396728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 Storage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Fayhaa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10543032" cy="4443984"/>
          </a:xfrm>
          <a:prstGeom prst="roundRect">
            <a:avLst>
              <a:gd name="adj" fmla="val 3292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901952"/>
            <a:ext cx="100584" cy="100584"/>
          </a:xfrm>
          <a:prstGeom prst="ellipse">
            <a:avLst/>
          </a:prstGeom>
          <a:solidFill>
            <a:srgbClr val="D9695A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1901952"/>
            <a:ext cx="100584" cy="100584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1901952"/>
            <a:ext cx="100584" cy="100584"/>
          </a:xfrm>
          <a:prstGeom prst="ellipse">
            <a:avLst/>
          </a:prstGeom>
          <a:solidFill>
            <a:srgbClr val="4E9A62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1828800"/>
            <a:ext cx="9537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adls · one folder per source · a new file every run</a:t>
            </a:r>
            <a:endParaRPr lang="en-US" sz="950" dirty="0"/>
          </a:p>
        </p:txBody>
      </p:sp>
      <p:pic>
        <p:nvPicPr>
          <p:cNvPr id="14" name="Image 0" descr="D:\stuff\bootcamp_project\presentation_build\img\fig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2112264"/>
            <a:ext cx="10396728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Lineage graph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Fayhaa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10543032" cy="4443984"/>
          </a:xfrm>
          <a:prstGeom prst="roundRect">
            <a:avLst>
              <a:gd name="adj" fmla="val 3292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901952"/>
            <a:ext cx="100584" cy="100584"/>
          </a:xfrm>
          <a:prstGeom prst="ellipse">
            <a:avLst/>
          </a:prstGeom>
          <a:solidFill>
            <a:srgbClr val="D9695A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1901952"/>
            <a:ext cx="100584" cy="100584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1901952"/>
            <a:ext cx="100584" cy="100584"/>
          </a:xfrm>
          <a:prstGeom prst="ellipse">
            <a:avLst/>
          </a:prstGeom>
          <a:solidFill>
            <a:srgbClr val="4E9A62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1828800"/>
            <a:ext cx="9537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dbt · raw → staging → analytics</a:t>
            </a:r>
            <a:endParaRPr lang="en-US" sz="950" dirty="0"/>
          </a:p>
        </p:txBody>
      </p:sp>
      <p:pic>
        <p:nvPicPr>
          <p:cNvPr id="14" name="Image 0" descr="D:\stuff\bootcamp_project\presentation_build\img\lineage_grap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2112264"/>
            <a:ext cx="10396728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Dataset: galaxy schema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Fayhaa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474720" cy="914400"/>
          </a:xfrm>
          <a:prstGeom prst="roundRect">
            <a:avLst>
              <a:gd name="adj" fmla="val 16000"/>
            </a:avLst>
          </a:prstGeom>
          <a:solidFill>
            <a:srgbClr val="2B6136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fact_holdings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474720" cy="914400"/>
          </a:xfrm>
          <a:prstGeom prst="roundRect">
            <a:avLst>
              <a:gd name="adj" fmla="val 16000"/>
            </a:avLst>
          </a:prstGeom>
          <a:solidFill>
            <a:srgbClr val="2B6136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fact_market_prices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474720" cy="914400"/>
          </a:xfrm>
          <a:prstGeom prst="roundRect">
            <a:avLst>
              <a:gd name="adj" fmla="val 16000"/>
            </a:avLst>
          </a:prstGeom>
          <a:solidFill>
            <a:srgbClr val="2B6136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34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fact_daily_portfolio_summary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4023360" y="2093976"/>
            <a:ext cx="548640" cy="237744"/>
          </a:xfrm>
          <a:prstGeom prst="line">
            <a:avLst/>
          </a:prstGeom>
          <a:noFill/>
          <a:ln w="12700">
            <a:solidFill>
              <a:srgbClr val="2A47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783080"/>
            <a:ext cx="2377440" cy="621792"/>
          </a:xfrm>
          <a:prstGeom prst="roundRect">
            <a:avLst>
              <a:gd name="adj" fmla="val 23529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17830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flipV="1">
            <a:off x="4023360" y="2898648"/>
            <a:ext cx="548640" cy="713232"/>
          </a:xfrm>
          <a:prstGeom prst="line">
            <a:avLst/>
          </a:prstGeom>
          <a:noFill/>
          <a:ln w="12700">
            <a:solidFill>
              <a:srgbClr val="2A47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587752"/>
            <a:ext cx="2377440" cy="621792"/>
          </a:xfrm>
          <a:prstGeom prst="roundRect">
            <a:avLst>
              <a:gd name="adj" fmla="val 23529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258775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dim_asset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flipV="1">
            <a:off x="4023360" y="3703320"/>
            <a:ext cx="548640" cy="1188720"/>
          </a:xfrm>
          <a:prstGeom prst="line">
            <a:avLst/>
          </a:prstGeom>
          <a:noFill/>
          <a:ln w="12700">
            <a:solidFill>
              <a:srgbClr val="2A47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392424"/>
            <a:ext cx="2377440" cy="621792"/>
          </a:xfrm>
          <a:prstGeom prst="roundRect">
            <a:avLst>
              <a:gd name="adj" fmla="val 23529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39242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dim_client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 flipV="1">
            <a:off x="4023360" y="4507992"/>
            <a:ext cx="548640" cy="384048"/>
          </a:xfrm>
          <a:prstGeom prst="line">
            <a:avLst/>
          </a:prstGeom>
          <a:noFill/>
          <a:ln w="12700">
            <a:solidFill>
              <a:srgbClr val="2A47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197096"/>
            <a:ext cx="2377440" cy="621792"/>
          </a:xfrm>
          <a:prstGeom prst="roundRect">
            <a:avLst>
              <a:gd name="adj" fmla="val 23529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970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dim_currency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023360" y="4892040"/>
            <a:ext cx="548640" cy="420624"/>
          </a:xfrm>
          <a:prstGeom prst="line">
            <a:avLst/>
          </a:prstGeom>
          <a:noFill/>
          <a:ln w="12700">
            <a:solidFill>
              <a:srgbClr val="2A47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5001768"/>
            <a:ext cx="2377440" cy="621792"/>
          </a:xfrm>
          <a:prstGeom prst="roundRect">
            <a:avLst>
              <a:gd name="adj" fmla="val 23529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5001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dim_source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406640" y="1783080"/>
            <a:ext cx="4251960" cy="2843784"/>
          </a:xfrm>
          <a:prstGeom prst="roundRect">
            <a:avLst>
              <a:gd name="adj" fmla="val 5145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71232" y="1901952"/>
            <a:ext cx="100584" cy="100584"/>
          </a:xfrm>
          <a:prstGeom prst="ellipse">
            <a:avLst/>
          </a:prstGeom>
          <a:solidFill>
            <a:srgbClr val="D9695A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54112" y="1901952"/>
            <a:ext cx="100584" cy="100584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36992" y="1901952"/>
            <a:ext cx="100584" cy="100584"/>
          </a:xfrm>
          <a:prstGeom prst="ellipse">
            <a:avLst/>
          </a:prstGeom>
          <a:solidFill>
            <a:srgbClr val="4E9A62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18288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snowflake · SAR check</a:t>
            </a:r>
            <a:endParaRPr lang="en-US" sz="950" dirty="0"/>
          </a:p>
        </p:txBody>
      </p:sp>
      <p:pic>
        <p:nvPicPr>
          <p:cNvPr id="35" name="Image 0" descr="D:\stuff\bootcamp_project\presentation_build\img\fig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79792" y="2112264"/>
            <a:ext cx="4105656" cy="244144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740664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61/61</a:t>
            </a:r>
            <a:endParaRPr lang="en-US" sz="3200" dirty="0"/>
          </a:p>
        </p:txBody>
      </p:sp>
      <p:sp>
        <p:nvSpPr>
          <p:cNvPr id="37" name="Text 34"/>
          <p:cNvSpPr txBox="1"/>
          <p:nvPr/>
        </p:nvSpPr>
        <p:spPr>
          <a:xfrm>
            <a:off x="740664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dbt tests pass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60120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20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FX rates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Power BI on Snowflake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Fayhaa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6858000" cy="4489704"/>
          </a:xfrm>
          <a:prstGeom prst="roundRect">
            <a:avLst>
              <a:gd name="adj" fmla="val 3259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01952"/>
            <a:ext cx="100584" cy="100584"/>
          </a:xfrm>
          <a:prstGeom prst="ellipse">
            <a:avLst/>
          </a:prstGeom>
          <a:solidFill>
            <a:srgbClr val="D9695A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1901952"/>
            <a:ext cx="100584" cy="100584"/>
          </a:xfrm>
          <a:prstGeom prst="ellipse">
            <a:avLst/>
          </a:prstGeom>
          <a:solidFill>
            <a:srgbClr val="4E9A62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18288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overview</a:t>
            </a:r>
            <a:endParaRPr lang="en-US" sz="950" dirty="0"/>
          </a:p>
        </p:txBody>
      </p:sp>
      <p:pic>
        <p:nvPicPr>
          <p:cNvPr id="14" name="Image 0" descr="D:\stuff\bootcamp_project\presentation_build\img\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" y="2112264"/>
            <a:ext cx="6711696" cy="40873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680960" y="1783080"/>
            <a:ext cx="3977640" cy="2249424"/>
          </a:xfrm>
          <a:prstGeom prst="roundRect">
            <a:avLst>
              <a:gd name="adj" fmla="val 6504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45552" y="1901952"/>
            <a:ext cx="100584" cy="100584"/>
          </a:xfrm>
          <a:prstGeom prst="ellipse">
            <a:avLst/>
          </a:prstGeom>
          <a:solidFill>
            <a:srgbClr val="D9695A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28432" y="1901952"/>
            <a:ext cx="100584" cy="100584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11312" y="1901952"/>
            <a:ext cx="100584" cy="100584"/>
          </a:xfrm>
          <a:prstGeom prst="ellipse">
            <a:avLst/>
          </a:prstGeom>
          <a:solidFill>
            <a:srgbClr val="4E9A62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03920" y="182880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allocation &amp; trading</a:t>
            </a:r>
            <a:endParaRPr lang="en-US" sz="950" dirty="0"/>
          </a:p>
        </p:txBody>
      </p:sp>
      <p:pic>
        <p:nvPicPr>
          <p:cNvPr id="20" name="Image 1" descr="D:\stuff\bootcamp_project\presentation_build\img\Allocation &amp; Trad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54112" y="2112264"/>
            <a:ext cx="3831336" cy="1847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680960" y="4023360"/>
            <a:ext cx="3977640" cy="2249424"/>
          </a:xfrm>
          <a:prstGeom prst="roundRect">
            <a:avLst>
              <a:gd name="adj" fmla="val 6504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845552" y="4142232"/>
            <a:ext cx="100584" cy="100584"/>
          </a:xfrm>
          <a:prstGeom prst="ellipse">
            <a:avLst/>
          </a:prstGeom>
          <a:solidFill>
            <a:srgbClr val="D9695A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28432" y="4142232"/>
            <a:ext cx="100584" cy="100584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11312" y="4142232"/>
            <a:ext cx="100584" cy="100584"/>
          </a:xfrm>
          <a:prstGeom prst="ellipse">
            <a:avLst/>
          </a:prstGeom>
          <a:solidFill>
            <a:srgbClr val="4E9A62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503920" y="40690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prices</a:t>
            </a:r>
            <a:endParaRPr lang="en-US" sz="950" dirty="0"/>
          </a:p>
        </p:txBody>
      </p:sp>
      <p:pic>
        <p:nvPicPr>
          <p:cNvPr id="26" name="Image 2" descr="D:\stuff\bootcamp_project\presentation_build\img\Marke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54112" y="4352544"/>
            <a:ext cx="3831336" cy="1847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challenges &amp; limitations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ran into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Hanoof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3749040"/>
          </a:xfrm>
          <a:prstGeom prst="roundRect">
            <a:avLst>
              <a:gd name="adj" fmla="val 3902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10312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B6136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2631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73736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63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Servers brute-forced over open SSH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Renamed columns broke the dashboard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reporting success while doing nothing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394960" cy="3749040"/>
          </a:xfrm>
          <a:prstGeom prst="roundRect">
            <a:avLst>
              <a:gd name="adj" fmla="val 3902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210312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BF9514"/>
          </a:solidFill>
          <a:ln w="9525">
            <a:solidFill>
              <a:srgbClr val="2A473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2631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0664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3063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ledger: returns are illustrative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stock prices on weekends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free tier: 25 requests a day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locally until redeployed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future 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36631" y="4114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64647" y="525780"/>
            <a:ext cx="118872" cy="118872"/>
          </a:xfrm>
          <a:prstGeom prst="ellipse">
            <a:avLst/>
          </a:prstGeom>
          <a:solidFill>
            <a:srgbClr val="E0B53A"/>
          </a:solidFill>
          <a:ln w="12700">
            <a:solidFill>
              <a:srgbClr val="E0B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47527" y="411480"/>
            <a:ext cx="74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Hanoof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10515600" cy="0"/>
          </a:xfrm>
          <a:prstGeom prst="line">
            <a:avLst/>
          </a:prstGeom>
          <a:noFill/>
          <a:ln w="25400">
            <a:solidFill>
              <a:srgbClr val="2A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77440"/>
            <a:ext cx="274320" cy="274320"/>
          </a:xfrm>
          <a:prstGeom prst="ellipse">
            <a:avLst/>
          </a:prstGeom>
          <a:solidFill>
            <a:srgbClr val="E0B53A"/>
          </a:solidFill>
          <a:ln w="19050">
            <a:solidFill>
              <a:srgbClr val="E0B5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17520"/>
            <a:ext cx="2057400" cy="2377440"/>
          </a:xfrm>
          <a:prstGeom prst="roundRect">
            <a:avLst>
              <a:gd name="adj" fmla="val 7111"/>
            </a:avLst>
          </a:prstGeom>
          <a:solidFill>
            <a:srgbClr val="2B6136"/>
          </a:solidFill>
          <a:ln w="12700">
            <a:solidFill>
              <a:srgbClr val="4E9A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57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 &amp; redeploy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80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key-only SSH · rotated secrets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98648" y="2377440"/>
            <a:ext cx="274320" cy="274320"/>
          </a:xfrm>
          <a:prstGeom prst="ellipse">
            <a:avLst/>
          </a:prstGeom>
          <a:solidFill>
            <a:srgbClr val="13241A"/>
          </a:solidFill>
          <a:ln w="19050">
            <a:solidFill>
              <a:srgbClr val="E0B5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07208" y="3017520"/>
            <a:ext cx="2057400" cy="2377440"/>
          </a:xfrm>
          <a:prstGeom prst="roundRect">
            <a:avLst>
              <a:gd name="adj" fmla="val 7111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35808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035808" y="3657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CI/CD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035808" y="4480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 for scripts &amp; dbt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57216" y="2377440"/>
            <a:ext cx="274320" cy="274320"/>
          </a:xfrm>
          <a:prstGeom prst="ellipse">
            <a:avLst/>
          </a:prstGeom>
          <a:solidFill>
            <a:srgbClr val="13241A"/>
          </a:solidFill>
          <a:ln w="19050">
            <a:solidFill>
              <a:srgbClr val="E0B5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3017520"/>
            <a:ext cx="2057400" cy="2377440"/>
          </a:xfrm>
          <a:prstGeom prst="roundRect">
            <a:avLst>
              <a:gd name="adj" fmla="val 7111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94376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94376" y="3657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Realistic ledger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294376" y="4480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market-based prices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15784" y="2377440"/>
            <a:ext cx="274320" cy="274320"/>
          </a:xfrm>
          <a:prstGeom prst="ellipse">
            <a:avLst/>
          </a:prstGeom>
          <a:solidFill>
            <a:srgbClr val="13241A"/>
          </a:solidFill>
          <a:ln w="19050">
            <a:solidFill>
              <a:srgbClr val="E0B5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4344" y="3017520"/>
            <a:ext cx="2057400" cy="2377440"/>
          </a:xfrm>
          <a:prstGeom prst="roundRect">
            <a:avLst>
              <a:gd name="adj" fmla="val 7111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52944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52944" y="3657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market data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552944" y="4480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metals · backfill FX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74352" y="2377440"/>
            <a:ext cx="274320" cy="274320"/>
          </a:xfrm>
          <a:prstGeom prst="ellipse">
            <a:avLst/>
          </a:prstGeom>
          <a:solidFill>
            <a:srgbClr val="13241A"/>
          </a:solidFill>
          <a:ln w="19050">
            <a:solidFill>
              <a:srgbClr val="E0B5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3017520"/>
            <a:ext cx="2057400" cy="2377440"/>
          </a:xfrm>
          <a:prstGeom prst="roundRect">
            <a:avLst>
              <a:gd name="adj" fmla="val 7111"/>
            </a:avLst>
          </a:prstGeom>
          <a:solidFill>
            <a:srgbClr val="13241A"/>
          </a:solidFill>
          <a:ln w="12700">
            <a:solidFill>
              <a:srgbClr val="2A473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11512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811512" y="3657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811512" y="4480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incremental models · IaC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INVASIGHT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814255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B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questions?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Maryam Alotaibi  ·  Fayhaa Alharbi  ·  Rawan Alaklabi  ·  Hanoof Alassiri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InvaSight - Investment Data Pipeline</dc:title>
  <dc:subject>PptxGenJS Presentation</dc:subject>
  <dc:creator>PptxGenJS</dc:creator>
  <cp:lastModifiedBy>PptxGenJS</cp:lastModifiedBy>
  <cp:revision>1</cp:revision>
  <dcterms:created xsi:type="dcterms:W3CDTF">2026-09-29T15:57:46Z</dcterms:created>
  <dcterms:modified xsi:type="dcterms:W3CDTF">2026-09-29T15:57:46Z</dcterms:modified>
</cp:coreProperties>
</file>